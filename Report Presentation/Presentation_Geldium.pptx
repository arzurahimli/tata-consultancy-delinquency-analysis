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→"/>
            </a:pPr>
            <a:r>
              <a:rPr lang="en-GB" sz="1600" b="1" dirty="0"/>
              <a:t>Inputs</a:t>
            </a:r>
            <a:r>
              <a:rPr lang="en-GB" sz="1600" dirty="0"/>
              <a:t>: Credit utilization rate, payment history, debt-to-income ratio, missed payment counts, and customer demographics — drawn from Geldium’s 500-customer dataset across 19 variables.</a:t>
            </a:r>
          </a:p>
          <a:p>
            <a:pPr>
              <a:buFont typeface="Arial" panose="020B0604020202020204" pitchFamily="34" charset="0"/>
              <a:buChar char="→"/>
            </a:pPr>
            <a:r>
              <a:rPr lang="en-GB" sz="1600" b="1" dirty="0"/>
              <a:t>Decision Logic</a:t>
            </a:r>
            <a:r>
              <a:rPr lang="en-GB" sz="1600" dirty="0"/>
              <a:t>: XGBoost classifier scores each customer with a delinquency probability. Scores above 0.25 trigger an intervention flag; rule-based overrides handle edge cases requiring human judgment.</a:t>
            </a:r>
          </a:p>
          <a:p>
            <a:pPr>
              <a:buFont typeface="Arial" panose="020B0604020202020204" pitchFamily="34" charset="0"/>
              <a:buChar char="→"/>
            </a:pPr>
            <a:r>
              <a:rPr lang="en-GB" sz="1600" b="1" dirty="0"/>
              <a:t>Actions</a:t>
            </a:r>
            <a:r>
              <a:rPr lang="en-GB" sz="1600" dirty="0"/>
              <a:t>: High-risk customers (score &gt; 0.25) receive automated payment reminders or early intervention outreach. Medium-risk customers are escalated to collections agents for personalised hardship plan review.</a:t>
            </a:r>
          </a:p>
          <a:p>
            <a:pPr>
              <a:buFont typeface="Arial" panose="020B0604020202020204" pitchFamily="34" charset="0"/>
              <a:buChar char="→"/>
            </a:pPr>
            <a:r>
              <a:rPr lang="en-GB" sz="1600" b="1" dirty="0"/>
              <a:t>Learning Loop</a:t>
            </a:r>
            <a:r>
              <a:rPr lang="en-GB" sz="1600" dirty="0"/>
              <a:t>: Repayment and contact outcomes feed back into the model quarterly. SMOTE rebalancing and threshold recalibration ensure sustained performance as customer behaviour evolves.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sz="1600" b="1" dirty="0"/>
              <a:t>Autonomous (No Human Required)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Scoring all 500 customers overnight and generating prioritised risk tiers automatically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Sending templated payment reminder emails and SMS nudges to low-to-medium risk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Logging contact attempts and updating customer risk records in real time</a:t>
            </a:r>
          </a:p>
          <a:p>
            <a:pPr>
              <a:buNone/>
            </a:pPr>
            <a:r>
              <a:rPr lang="en-GB" sz="1400" dirty="0"/>
              <a:t xml:space="preserve"> </a:t>
            </a:r>
          </a:p>
          <a:p>
            <a:pPr>
              <a:buNone/>
            </a:pPr>
            <a:r>
              <a:rPr lang="en-GB" sz="1600" b="1" dirty="0"/>
              <a:t>Human-in-the-Loop Oversight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Reviewing and approving hardship plans or repayment restructure offers for flagged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Investigating cases flagged by the fairness monitor (e.g., age group over-flagging detected in analysis)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Authorising write-offs, legal escalation, and monthly model fairness audit sign-off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 xml:space="preserve">Demographic Fairness Monitoring: </a:t>
            </a:r>
            <a:r>
              <a:rPr lang="en-GB" sz="1400" dirty="0"/>
              <a:t>Disparate Impact Ratios (DIR) tracked monthly across age, card type, and income bands. Thresholds (DIR 0.80–1.25, ECOA/FCRA) trigger alerts and mandatory human review. Our analysis found significant age-group disparity (χ²=35.97, p&lt;0.0001).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 xml:space="preserve">Explainability via SHAP: </a:t>
            </a:r>
            <a:r>
              <a:rPr lang="en-GB" sz="1400" dirty="0"/>
              <a:t>Every model score includes the top 3 drivers in plain language (e.g., “Credit utilization above 80% for 3 consecutive months”) so agents and customers understand the reason for contact.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 xml:space="preserve">Adverse Action Compliance: </a:t>
            </a:r>
            <a:r>
              <a:rPr lang="en-GB" sz="1400" dirty="0"/>
              <a:t>Escalations generate ECOA/FCRA-compliant adverse action notices citing specific model-supported reasons — never proxy variables like location or employment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/>
              <a:t xml:space="preserve">Human-in-the-Loop for High-Stakes Decisions: </a:t>
            </a:r>
            <a:r>
              <a:rPr lang="en-GB" sz="1400" dirty="0"/>
              <a:t>Debt restructuring, hardship plan approval, and legal escalation require human sign-off. The AI flags; it does not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400" b="1" dirty="0"/>
              <a:t>Quantitative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Delinquency rate reduced from 16% toward a target of ≤10% within 12 months (SMART goal)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Model achieves 78.8% recall of true delinquent customers — catching 4 in 5 high-risk cases before default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Estimated 20–30% reduction in manual collections workload through automated risk tiering and outreach</a:t>
            </a:r>
          </a:p>
          <a:p>
            <a:pPr>
              <a:buNone/>
            </a:pPr>
            <a:r>
              <a:rPr lang="en-GB" sz="1400" dirty="0"/>
              <a:t xml:space="preserve"> </a:t>
            </a:r>
          </a:p>
          <a:p>
            <a:pPr>
              <a:buNone/>
            </a:pPr>
            <a:r>
              <a:rPr lang="en-GB" sz="1400" b="1" dirty="0"/>
              <a:t>Qualitative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Fairer treatment across customer segments — age and income bias detected and mitigated before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Increased customer trust through transparent, explainable AI-driven outreach and ECOA-compliant notices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Scalable, self-improving framework — model retrains quarterly and adapts as customer behaviour evolves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[Feel free to add more slides throughout]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